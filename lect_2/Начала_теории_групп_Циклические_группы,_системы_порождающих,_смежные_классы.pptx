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6BABF9-6850-42AB-8602-BD92DFCBF1C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5DB8C-622A-4D6F-B634-F539294BC0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BBBE5D-5048-4693-9A94-992CAFE7B5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F149D4-2E34-4ADE-B8FC-CC90B687F49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745DE8-E3E6-4BAD-9DA4-CAC16FB6796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DDC0DD-2C92-4690-B16A-29827581B2E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2907B2-A686-4C0F-A1FA-A54188ECD9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97D1AE-9754-446F-9F49-52DD0B82B4C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038055-E094-407F-B50E-4CE831BFEE4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1BC5D3-9F2A-49D3-A15C-289AA336DCC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A55E5C-5DBB-4A56-8A52-7B1EB9ABE09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2AED10-936B-4D86-BD4A-6456E0CDA6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AD3873-A37E-4013-A9B0-7D185CB85D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 rot="20400000">
            <a:off x="7178400" y="214200"/>
            <a:ext cx="139356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499"/>
              </a:lnSpc>
              <a:tabLst>
                <a:tab algn="l" pos="0"/>
              </a:tabLst>
            </a:pPr>
            <a:r>
              <a:rPr b="0" lang="en-US" sz="7719" strike="noStrike" u="none">
                <a:solidFill>
                  <a:srgbClr val="e74c3c">
                    <a:alpha val="8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771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 rot="1500000">
            <a:off x="500040" y="3593160"/>
            <a:ext cx="57276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8799"/>
              </a:lnSpc>
              <a:tabLst>
                <a:tab algn="l" pos="0"/>
              </a:tabLst>
            </a:pPr>
            <a:r>
              <a:rPr b="0" lang="en-US" sz="7169" strike="noStrike" u="none">
                <a:solidFill>
                  <a:srgbClr val="e74c3c">
                    <a:alpha val="8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716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 rot="19800000">
            <a:off x="8215200" y="2053080"/>
            <a:ext cx="71388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8000"/>
                  </a:srgbClr>
                </a:solidFill>
                <a:effectLst/>
                <a:uFillTx/>
                <a:latin typeface="Calibri"/>
              </a:rPr>
              <a:t>∑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000080" y="992880"/>
            <a:ext cx="71434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3801"/>
              </a:lnSpc>
              <a:tabLst>
                <a:tab algn="l" pos="0"/>
              </a:tabLst>
            </a:pPr>
            <a:r>
              <a:rPr b="1" lang="en-US" sz="286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Начала теории групп</a:t>
            </a:r>
            <a:endParaRPr b="0" lang="en-US" sz="2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3030480" y="1609200"/>
            <a:ext cx="30848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Глава 4 курса алгебры (Виенберг)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714680" y="2132280"/>
            <a:ext cx="5714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Углубленное изучение структуры групп: циклические группы, системы порождающих элементов, разбиение на смежные классы и их приложения в геометрии и физике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1000080" y="2819520"/>
            <a:ext cx="7143480" cy="846360"/>
          </a:xfrm>
          <a:prstGeom prst="rect">
            <a:avLst/>
          </a:prstGeom>
          <a:solidFill>
            <a:srgbClr val="2c3e50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8108280" y="2819520"/>
            <a:ext cx="35280" cy="84636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1000080" y="2819520"/>
            <a:ext cx="35280" cy="8463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214280" y="2998080"/>
            <a:ext cx="67147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Основные темы занятия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1214280" y="3210840"/>
            <a:ext cx="1274040" cy="276840"/>
          </a:xfrm>
          <a:prstGeom prst="rect">
            <a:avLst/>
          </a:prstGeom>
          <a:solidFill>
            <a:srgbClr val="e74c3c">
              <a:alpha val="10000"/>
            </a:srgbClr>
          </a:solidFill>
          <a:ln w="9144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1214280" y="3210840"/>
            <a:ext cx="1274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Циклические группы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2574720" y="3210840"/>
            <a:ext cx="1274040" cy="276840"/>
          </a:xfrm>
          <a:prstGeom prst="rect">
            <a:avLst/>
          </a:prstGeom>
          <a:solidFill>
            <a:srgbClr val="f39c12">
              <a:alpha val="10000"/>
            </a:srgbClr>
          </a:solidFill>
          <a:ln w="9144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2574720" y="3210840"/>
            <a:ext cx="1274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Системы порождающих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3934800" y="3210840"/>
            <a:ext cx="1274040" cy="276840"/>
          </a:xfrm>
          <a:prstGeom prst="rect">
            <a:avLst/>
          </a:prstGeom>
          <a:solidFill>
            <a:srgbClr val="3498db">
              <a:alpha val="10000"/>
            </a:srgbClr>
          </a:solidFill>
          <a:ln w="9144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3934800" y="3210840"/>
            <a:ext cx="1274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Смежные классы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5294880" y="3210840"/>
            <a:ext cx="1274040" cy="276840"/>
          </a:xfrm>
          <a:prstGeom prst="rect">
            <a:avLst/>
          </a:prstGeom>
          <a:solidFill>
            <a:srgbClr val="27ae60">
              <a:alpha val="10000"/>
            </a:srgbClr>
          </a:solidFill>
          <a:ln w="9144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5294880" y="3210840"/>
            <a:ext cx="1274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Теорема Лагранжа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8"/>
          <p:cNvSpPr/>
          <p:nvPr/>
        </p:nvSpPr>
        <p:spPr>
          <a:xfrm>
            <a:off x="6654960" y="3210840"/>
            <a:ext cx="1274040" cy="276840"/>
          </a:xfrm>
          <a:prstGeom prst="rect">
            <a:avLst/>
          </a:prstGeom>
          <a:solidFill>
            <a:srgbClr val="9b59b6">
              <a:alpha val="10000"/>
            </a:srgbClr>
          </a:solidFill>
          <a:ln w="9144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6654960" y="3210840"/>
            <a:ext cx="1274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Приложения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1000080" y="4016520"/>
            <a:ext cx="71434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i="1" lang="en-US" sz="6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Готовьтесь к глубокому пониманию алгебраических структур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0"/>
          <p:cNvSpPr/>
          <p:nvPr/>
        </p:nvSpPr>
        <p:spPr>
          <a:xfrm rot="20700000">
            <a:off x="7432920" y="356760"/>
            <a:ext cx="99612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Циклические группы: определение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571680" y="869760"/>
            <a:ext cx="8000640" cy="941040"/>
          </a:xfrm>
          <a:prstGeom prst="rect">
            <a:avLst/>
          </a:prstGeom>
          <a:solidFill>
            <a:srgbClr val="e74c3c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571680" y="869760"/>
            <a:ext cx="35280" cy="941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750240" y="1012680"/>
            <a:ext cx="764352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Определение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750240" y="1219680"/>
            <a:ext cx="764352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Группа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называется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циклической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, если она может быть порождена одним элементом. То есть существует элемент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 ∈ G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такой, что: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750240" y="1461240"/>
            <a:ext cx="764352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⟨g⟩ = {gⁿ : n ∈ ℤ}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571680" y="2025720"/>
            <a:ext cx="8000640" cy="96156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571680" y="2025720"/>
            <a:ext cx="28080" cy="96156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714240" y="2139840"/>
            <a:ext cx="77148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Ключевые понятия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714240" y="2313000"/>
            <a:ext cx="7714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⟨g⟩</a:t>
            </a: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циклическая подгруппа, порождённая элементом 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714240" y="2518920"/>
            <a:ext cx="7714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</a:t>
            </a: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порождающий элемент (генератор)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714240" y="2724480"/>
            <a:ext cx="7714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gⁿ</a:t>
            </a: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степень элемента g (в аддитивной группе: ng)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571680" y="3201840"/>
            <a:ext cx="2590560" cy="7174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571680" y="3201840"/>
            <a:ext cx="21240" cy="7174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685800" y="3301920"/>
            <a:ext cx="236196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Пример 1: ℤₙ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685800" y="3480480"/>
            <a:ext cx="23619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ℤₙ = ⟨1⟩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85800" y="3691080"/>
            <a:ext cx="2361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Остатки от деления на n со сложением по модулю 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9"/>
          <p:cNvSpPr/>
          <p:nvPr/>
        </p:nvSpPr>
        <p:spPr>
          <a:xfrm>
            <a:off x="3276720" y="3201840"/>
            <a:ext cx="2590560" cy="7174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0"/>
          <p:cNvSpPr/>
          <p:nvPr/>
        </p:nvSpPr>
        <p:spPr>
          <a:xfrm>
            <a:off x="3276720" y="3201840"/>
            <a:ext cx="21240" cy="71748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3390840" y="3301920"/>
            <a:ext cx="236196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Пример 2: Корни из единицы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3390840" y="3480480"/>
            <a:ext cx="23619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μₙ = ⟨ζₙ⟩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3390840" y="3691080"/>
            <a:ext cx="2361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где ζₙ = e^(2πi/n)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4"/>
          <p:cNvSpPr/>
          <p:nvPr/>
        </p:nvSpPr>
        <p:spPr>
          <a:xfrm>
            <a:off x="5981760" y="3201840"/>
            <a:ext cx="2590560" cy="7174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5"/>
          <p:cNvSpPr/>
          <p:nvPr/>
        </p:nvSpPr>
        <p:spPr>
          <a:xfrm>
            <a:off x="5981760" y="3201840"/>
            <a:ext cx="21240" cy="717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6095880" y="3301920"/>
            <a:ext cx="236196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Пример 3: ℤ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6095880" y="3480480"/>
            <a:ext cx="23619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ℤ = ⟨1⟩ = ⟨-1⟩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8"/>
          <p:cNvSpPr/>
          <p:nvPr/>
        </p:nvSpPr>
        <p:spPr>
          <a:xfrm>
            <a:off x="6095880" y="3691080"/>
            <a:ext cx="2361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Целые числа со сложением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0"/>
          <p:cNvSpPr/>
          <p:nvPr/>
        </p:nvSpPr>
        <p:spPr>
          <a:xfrm rot="20700000">
            <a:off x="7432920" y="356760"/>
            <a:ext cx="99612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Примеры циклических групп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571680" y="841320"/>
            <a:ext cx="3928680" cy="3426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571680" y="841320"/>
            <a:ext cx="28080" cy="342612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14240" y="969840"/>
            <a:ext cx="36428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Конечные циклические группы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714240" y="1182240"/>
            <a:ext cx="3642840" cy="939240"/>
          </a:xfrm>
          <a:prstGeom prst="rect">
            <a:avLst/>
          </a:prstGeom>
          <a:solidFill>
            <a:srgbClr val="2c3e5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714240" y="1182240"/>
            <a:ext cx="21240" cy="9392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00280" y="126792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1. Остатки ℤₙ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00280" y="142704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ℤₙ = {0, 1, 2, ..., n-1}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800280" y="157860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ℤₙ = ⟨1⟩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800280" y="1730520"/>
            <a:ext cx="347148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Сложение по модулю 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800280" y="1886400"/>
            <a:ext cx="34714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Порядок: |ℤₙ| = n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714240" y="2207880"/>
            <a:ext cx="3642840" cy="950040"/>
          </a:xfrm>
          <a:prstGeom prst="rect">
            <a:avLst/>
          </a:prstGeom>
          <a:solidFill>
            <a:srgbClr val="2c3e5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714240" y="2207880"/>
            <a:ext cx="21240" cy="9500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800280" y="229356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2. Корни из единицы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800280" y="2452320"/>
            <a:ext cx="34714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μₙ = {z ∈ ℂ : zⁿ = 1}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800280" y="261504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μₙ = ⟨ζₙ⟩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800280" y="2766600"/>
            <a:ext cx="347148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где ζₙ = e^(2πi/n)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800280" y="2922480"/>
            <a:ext cx="34714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Порядок: |μₙ| = n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0"/>
          <p:cNvSpPr/>
          <p:nvPr/>
        </p:nvSpPr>
        <p:spPr>
          <a:xfrm>
            <a:off x="714240" y="3243960"/>
            <a:ext cx="3642840" cy="787680"/>
          </a:xfrm>
          <a:prstGeom prst="rect">
            <a:avLst/>
          </a:prstGeom>
          <a:solidFill>
            <a:srgbClr val="2c3e5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714240" y="3243960"/>
            <a:ext cx="21240" cy="7876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800280" y="332964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3. Циклические подгруппы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800280" y="348876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⟨g⟩ = {e, g, g², ..., g^(n-1)}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800280" y="3640320"/>
            <a:ext cx="347148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для элемента g порядка 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800280" y="3796200"/>
            <a:ext cx="34714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Порядок: |⟨g⟩| = n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6"/>
          <p:cNvSpPr/>
          <p:nvPr/>
        </p:nvSpPr>
        <p:spPr>
          <a:xfrm>
            <a:off x="4643280" y="841320"/>
            <a:ext cx="3928680" cy="3426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7"/>
          <p:cNvSpPr/>
          <p:nvPr/>
        </p:nvSpPr>
        <p:spPr>
          <a:xfrm>
            <a:off x="4643280" y="841320"/>
            <a:ext cx="28080" cy="342612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8"/>
          <p:cNvSpPr/>
          <p:nvPr/>
        </p:nvSpPr>
        <p:spPr>
          <a:xfrm>
            <a:off x="4786200" y="969840"/>
            <a:ext cx="36428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Бесконечные циклические группы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9"/>
          <p:cNvSpPr/>
          <p:nvPr/>
        </p:nvSpPr>
        <p:spPr>
          <a:xfrm>
            <a:off x="4786200" y="1182240"/>
            <a:ext cx="3642840" cy="946440"/>
          </a:xfrm>
          <a:prstGeom prst="rect">
            <a:avLst/>
          </a:prstGeom>
          <a:solidFill>
            <a:srgbClr val="2c3e5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0"/>
          <p:cNvSpPr/>
          <p:nvPr/>
        </p:nvSpPr>
        <p:spPr>
          <a:xfrm>
            <a:off x="4786200" y="1182240"/>
            <a:ext cx="21240" cy="94644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1"/>
          <p:cNvSpPr/>
          <p:nvPr/>
        </p:nvSpPr>
        <p:spPr>
          <a:xfrm>
            <a:off x="4871880" y="126792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1. Целые числа ℤ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2"/>
          <p:cNvSpPr/>
          <p:nvPr/>
        </p:nvSpPr>
        <p:spPr>
          <a:xfrm>
            <a:off x="4871880" y="142704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ℤ = {..., -2, -1, 0, 1, 2, ...}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3"/>
          <p:cNvSpPr/>
          <p:nvPr/>
        </p:nvSpPr>
        <p:spPr>
          <a:xfrm>
            <a:off x="4871880" y="157860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ℤ = ⟨1⟩ = ⟨-1⟩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4"/>
          <p:cNvSpPr/>
          <p:nvPr/>
        </p:nvSpPr>
        <p:spPr>
          <a:xfrm>
            <a:off x="4871880" y="1730520"/>
            <a:ext cx="347148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Сложение целых чисел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5"/>
          <p:cNvSpPr/>
          <p:nvPr/>
        </p:nvSpPr>
        <p:spPr>
          <a:xfrm>
            <a:off x="4871880" y="1886400"/>
            <a:ext cx="3471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Порядок: |ℤ| = ∞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6"/>
          <p:cNvSpPr/>
          <p:nvPr/>
        </p:nvSpPr>
        <p:spPr>
          <a:xfrm>
            <a:off x="4786200" y="2214720"/>
            <a:ext cx="3642840" cy="957240"/>
          </a:xfrm>
          <a:prstGeom prst="rect">
            <a:avLst/>
          </a:prstGeom>
          <a:solidFill>
            <a:srgbClr val="2c3e5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7"/>
          <p:cNvSpPr/>
          <p:nvPr/>
        </p:nvSpPr>
        <p:spPr>
          <a:xfrm>
            <a:off x="4786200" y="2214720"/>
            <a:ext cx="21240" cy="95724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8"/>
          <p:cNvSpPr/>
          <p:nvPr/>
        </p:nvSpPr>
        <p:spPr>
          <a:xfrm>
            <a:off x="4871880" y="230076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2. Целые кратные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9"/>
          <p:cNvSpPr/>
          <p:nvPr/>
        </p:nvSpPr>
        <p:spPr>
          <a:xfrm>
            <a:off x="4871880" y="2459520"/>
            <a:ext cx="34714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nℤ = {nk : k ∈ ℤ}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0"/>
          <p:cNvSpPr/>
          <p:nvPr/>
        </p:nvSpPr>
        <p:spPr>
          <a:xfrm>
            <a:off x="4871880" y="262224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nℤ = ⟨n⟩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1"/>
          <p:cNvSpPr/>
          <p:nvPr/>
        </p:nvSpPr>
        <p:spPr>
          <a:xfrm>
            <a:off x="4871880" y="2773800"/>
            <a:ext cx="347148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Кратные числа 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2"/>
          <p:cNvSpPr/>
          <p:nvPr/>
        </p:nvSpPr>
        <p:spPr>
          <a:xfrm>
            <a:off x="4871880" y="2929680"/>
            <a:ext cx="3471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Порядок: |nℤ| = ∞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3"/>
          <p:cNvSpPr/>
          <p:nvPr/>
        </p:nvSpPr>
        <p:spPr>
          <a:xfrm>
            <a:off x="4786200" y="3258360"/>
            <a:ext cx="3642840" cy="794880"/>
          </a:xfrm>
          <a:prstGeom prst="rect">
            <a:avLst/>
          </a:prstGeom>
          <a:solidFill>
            <a:srgbClr val="2c3e5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4"/>
          <p:cNvSpPr/>
          <p:nvPr/>
        </p:nvSpPr>
        <p:spPr>
          <a:xfrm>
            <a:off x="4786200" y="3258360"/>
            <a:ext cx="21240" cy="79488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5"/>
          <p:cNvSpPr/>
          <p:nvPr/>
        </p:nvSpPr>
        <p:spPr>
          <a:xfrm>
            <a:off x="4871880" y="334404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3. Степени элемента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6"/>
          <p:cNvSpPr/>
          <p:nvPr/>
        </p:nvSpPr>
        <p:spPr>
          <a:xfrm>
            <a:off x="4871880" y="3502800"/>
            <a:ext cx="3471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⟨g⟩ = {..., g⁻², g⁻¹, e, g, g², ...}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7"/>
          <p:cNvSpPr/>
          <p:nvPr/>
        </p:nvSpPr>
        <p:spPr>
          <a:xfrm>
            <a:off x="4871880" y="3654720"/>
            <a:ext cx="347148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для элемента бесконечного порядка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8"/>
          <p:cNvSpPr/>
          <p:nvPr/>
        </p:nvSpPr>
        <p:spPr>
          <a:xfrm>
            <a:off x="4871880" y="3810240"/>
            <a:ext cx="3471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Порядок: |⟨g⟩| = ∞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0"/>
          <p:cNvSpPr/>
          <p:nvPr/>
        </p:nvSpPr>
        <p:spPr>
          <a:xfrm rot="20700000">
            <a:off x="7432920" y="356760"/>
            <a:ext cx="99612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Свойства циклических групп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571680" y="812520"/>
            <a:ext cx="3950280" cy="796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71680" y="812520"/>
            <a:ext cx="28080" cy="796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685800" y="9126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Свойство 1: Абелевость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685800" y="106272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Любая циклическая группа абелева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685800" y="120924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gᵐ · gⁿ = gⁿ · gᵐ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685800" y="1355400"/>
            <a:ext cx="372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3420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Все элементы коммутируют между собой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4622040" y="812520"/>
            <a:ext cx="3950280" cy="796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4622040" y="812520"/>
            <a:ext cx="28080" cy="79632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4736160" y="9126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Свойство 2: Подгруппы цикличны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4736160" y="106272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Любая подгруппа циклической группы циклична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4736160" y="1209240"/>
            <a:ext cx="372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3420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Если G = ⟨g⟩, то H ⊆ G ⟹ H = ⟨gᵈ⟩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571680" y="1709280"/>
            <a:ext cx="3950280" cy="796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571680" y="1709280"/>
            <a:ext cx="28080" cy="79632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685800" y="18090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Свойство 3: Классификация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685800" y="195912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Циклическая группа порядка n ≅ ℤₙ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685800" y="210564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Бесконечная циклическая группа ≅ ℤ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685800" y="2252160"/>
            <a:ext cx="372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3420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Структура полностью определена порядком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4622040" y="1709280"/>
            <a:ext cx="3950280" cy="796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4622040" y="1709280"/>
            <a:ext cx="28080" cy="7963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736160" y="18090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Свойство 4: Порядок элемента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4736160" y="195912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ord(gᵏ) = n / gcd(k, n)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4736160" y="2105640"/>
            <a:ext cx="372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3420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В ℤ₁₂: ord(3) = 12/gcd(3,12) = 4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571680" y="2605680"/>
            <a:ext cx="3950280" cy="64980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6"/>
          <p:cNvSpPr/>
          <p:nvPr/>
        </p:nvSpPr>
        <p:spPr>
          <a:xfrm>
            <a:off x="571680" y="2605680"/>
            <a:ext cx="28080" cy="64980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7"/>
          <p:cNvSpPr/>
          <p:nvPr/>
        </p:nvSpPr>
        <p:spPr>
          <a:xfrm>
            <a:off x="685800" y="270576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9b59b6"/>
                </a:solidFill>
                <a:effectLst/>
                <a:uFillTx/>
                <a:latin typeface="Calibri"/>
              </a:rPr>
              <a:t>Свойство 5: Порождающие элементы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685800" y="285588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Циклическая группа порядка n имеет φ(n) порождающих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9"/>
          <p:cNvSpPr/>
          <p:nvPr/>
        </p:nvSpPr>
        <p:spPr>
          <a:xfrm>
            <a:off x="685800" y="3002040"/>
            <a:ext cx="3721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3420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ℤ₆ имеет φ(6) = 2 порождающих: 1 и 5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0"/>
          <p:cNvSpPr/>
          <p:nvPr/>
        </p:nvSpPr>
        <p:spPr>
          <a:xfrm rot="20700000">
            <a:off x="7479720" y="357120"/>
            <a:ext cx="94896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⟨S⟩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Системы порождающих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571680" y="826920"/>
            <a:ext cx="8000640" cy="1083600"/>
          </a:xfrm>
          <a:prstGeom prst="rect">
            <a:avLst/>
          </a:prstGeom>
          <a:solidFill>
            <a:srgbClr val="e74c3c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571680" y="826920"/>
            <a:ext cx="35280" cy="1083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14240" y="941040"/>
            <a:ext cx="77148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Определение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714240" y="1135800"/>
            <a:ext cx="7030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Подмножество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1418040" y="1135800"/>
            <a:ext cx="2592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S ⊆ G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1677600" y="1135800"/>
            <a:ext cx="5745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называется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2252520" y="1135800"/>
            <a:ext cx="11836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системой порождающих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3436920" y="1135800"/>
            <a:ext cx="45392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группы G, если каждый элемент G может быть представлен как произведение элементов из S и их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714240" y="1284480"/>
            <a:ext cx="4701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обратных: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714240" y="1465200"/>
            <a:ext cx="7714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⟨S⟩ = ⟨s₁, s₂, ..., sₙ⟩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714240" y="1659600"/>
            <a:ext cx="7714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Минимальная система порождающих — система, никакое собственное подмножество которой не порождает G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571680" y="2082240"/>
            <a:ext cx="3950280" cy="1212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571680" y="2082240"/>
            <a:ext cx="28080" cy="121212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685800" y="2182320"/>
            <a:ext cx="37216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Пример 1: Диэдральная группа Dₙ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685800" y="235548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Группа симметрий правильного n-угольника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685800" y="252000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Порядок: |Dₙ| = 2n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685800" y="269136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Dₙ = ⟨r, s⟩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685800" y="286272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где r — поворот на 2π/n, s — отражение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685800" y="302364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Соотношения: rⁿ = e, s² = e, srs = r⁻¹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2"/>
          <p:cNvSpPr/>
          <p:nvPr/>
        </p:nvSpPr>
        <p:spPr>
          <a:xfrm>
            <a:off x="4622040" y="2082240"/>
            <a:ext cx="3950280" cy="1212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3"/>
          <p:cNvSpPr/>
          <p:nvPr/>
        </p:nvSpPr>
        <p:spPr>
          <a:xfrm>
            <a:off x="4622040" y="2082240"/>
            <a:ext cx="28080" cy="121212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685800" y="235548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5"/>
          <p:cNvSpPr/>
          <p:nvPr/>
        </p:nvSpPr>
        <p:spPr>
          <a:xfrm>
            <a:off x="685800" y="252000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4736160" y="2182320"/>
            <a:ext cx="37216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Пример 2: Симметрическая группа Sₙ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7"/>
          <p:cNvSpPr/>
          <p:nvPr/>
        </p:nvSpPr>
        <p:spPr>
          <a:xfrm>
            <a:off x="4736160" y="235548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Группа всех перестановок n элементов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8"/>
          <p:cNvSpPr/>
          <p:nvPr/>
        </p:nvSpPr>
        <p:spPr>
          <a:xfrm>
            <a:off x="4736160" y="252000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Порядок: |Sₙ| = n!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9"/>
          <p:cNvSpPr/>
          <p:nvPr/>
        </p:nvSpPr>
        <p:spPr>
          <a:xfrm>
            <a:off x="4736160" y="2691360"/>
            <a:ext cx="3721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Sₙ = ⟨(1,2), (2,3), ..., (n-1,n)⟩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0"/>
          <p:cNvSpPr/>
          <p:nvPr/>
        </p:nvSpPr>
        <p:spPr>
          <a:xfrm>
            <a:off x="4736160" y="2862720"/>
            <a:ext cx="37216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Соседние транспозиции порождают всю группу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1"/>
          <p:cNvSpPr/>
          <p:nvPr/>
        </p:nvSpPr>
        <p:spPr>
          <a:xfrm>
            <a:off x="571680" y="3466440"/>
            <a:ext cx="8000640" cy="130176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2"/>
          <p:cNvSpPr/>
          <p:nvPr/>
        </p:nvSpPr>
        <p:spPr>
          <a:xfrm>
            <a:off x="571680" y="3466440"/>
            <a:ext cx="28080" cy="1301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3"/>
          <p:cNvSpPr/>
          <p:nvPr/>
        </p:nvSpPr>
        <p:spPr>
          <a:xfrm>
            <a:off x="4736160" y="235548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4"/>
          <p:cNvSpPr/>
          <p:nvPr/>
        </p:nvSpPr>
        <p:spPr>
          <a:xfrm>
            <a:off x="4736160" y="252000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5"/>
          <p:cNvSpPr/>
          <p:nvPr/>
        </p:nvSpPr>
        <p:spPr>
          <a:xfrm>
            <a:off x="685800" y="356652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Презентация группы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6"/>
          <p:cNvSpPr/>
          <p:nvPr/>
        </p:nvSpPr>
        <p:spPr>
          <a:xfrm>
            <a:off x="685800" y="373968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Обозначение: </a:t>
            </a: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 = ⟨S | R⟩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7"/>
          <p:cNvSpPr/>
          <p:nvPr/>
        </p:nvSpPr>
        <p:spPr>
          <a:xfrm>
            <a:off x="685800" y="390384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S — система порождающих, R — система соотношений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8"/>
          <p:cNvSpPr/>
          <p:nvPr/>
        </p:nvSpPr>
        <p:spPr>
          <a:xfrm>
            <a:off x="685800" y="4089600"/>
            <a:ext cx="7772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8040" bIns="0" anchor="t">
            <a:spAutoFit/>
          </a:bodyPr>
          <a:p>
            <a:r>
              <a:rPr b="1" lang="en-US" sz="58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Примеры презентаций: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• ℤₙ = ⟨a | aⁿ = e⟩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• Dₙ = ⟨r, s | rⁿ = e, s² = e, srs = r⁻¹⟩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• ℤ = ⟨a | (нет соотношений)⟩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9"/>
          <p:cNvSpPr/>
          <p:nvPr/>
        </p:nvSpPr>
        <p:spPr>
          <a:xfrm>
            <a:off x="685800" y="373968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0"/>
          <p:cNvSpPr/>
          <p:nvPr/>
        </p:nvSpPr>
        <p:spPr>
          <a:xfrm>
            <a:off x="685800" y="390384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0"/>
          <p:cNvSpPr/>
          <p:nvPr/>
        </p:nvSpPr>
        <p:spPr>
          <a:xfrm rot="20700000">
            <a:off x="7899840" y="357120"/>
            <a:ext cx="52884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H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 rot="1200000">
            <a:off x="428400" y="3635640"/>
            <a:ext cx="64260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∪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Смежные классы: определение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571680" y="841320"/>
            <a:ext cx="3935880" cy="1129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571680" y="841320"/>
            <a:ext cx="35280" cy="1129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714240" y="969840"/>
            <a:ext cx="36500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Левый смежный класс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714240" y="1178640"/>
            <a:ext cx="2829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Пусть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997560" y="1178640"/>
            <a:ext cx="698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H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1067760" y="1178640"/>
            <a:ext cx="10008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— подгруппа группы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2069280" y="1178640"/>
            <a:ext cx="669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2136600" y="1178640"/>
            <a:ext cx="107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и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2244600" y="1178640"/>
            <a:ext cx="2664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 ∈ G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2511360" y="1178640"/>
            <a:ext cx="175068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. Левым смежным классом элемента 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714240" y="1327320"/>
            <a:ext cx="18122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 подгруппе H называется множество: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714240" y="1522440"/>
            <a:ext cx="36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gH = {gh : h ∈ H}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714240" y="1716480"/>
            <a:ext cx="365004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i="1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Произведение элемента g на все элементы подгруппы H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4636440" y="841320"/>
            <a:ext cx="3935880" cy="1129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4636440" y="841320"/>
            <a:ext cx="35280" cy="112932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4779000" y="969840"/>
            <a:ext cx="36500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Правый смежный класс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4779000" y="1178640"/>
            <a:ext cx="2829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Пусть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5062680" y="1178640"/>
            <a:ext cx="698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H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5132880" y="1178640"/>
            <a:ext cx="10008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— подгруппа группы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6134040" y="1178640"/>
            <a:ext cx="669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6201360" y="1178640"/>
            <a:ext cx="1076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и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6309360" y="1178640"/>
            <a:ext cx="26640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 ∈ G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5"/>
          <p:cNvSpPr/>
          <p:nvPr/>
        </p:nvSpPr>
        <p:spPr>
          <a:xfrm>
            <a:off x="6576120" y="1178640"/>
            <a:ext cx="18097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. Правым смежным классом элемента 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4779000" y="1327320"/>
            <a:ext cx="181224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 подгруппе H называется множество: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7"/>
          <p:cNvSpPr/>
          <p:nvPr/>
        </p:nvSpPr>
        <p:spPr>
          <a:xfrm>
            <a:off x="4779000" y="1522440"/>
            <a:ext cx="3650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Hg = {hg : h ∈ H}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4779000" y="1716480"/>
            <a:ext cx="365004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i="1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Произведение всех элементов подгруппы H на элемент g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9"/>
          <p:cNvSpPr/>
          <p:nvPr/>
        </p:nvSpPr>
        <p:spPr>
          <a:xfrm>
            <a:off x="571680" y="2170800"/>
            <a:ext cx="8000640" cy="1669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0"/>
          <p:cNvSpPr/>
          <p:nvPr/>
        </p:nvSpPr>
        <p:spPr>
          <a:xfrm>
            <a:off x="571680" y="2170800"/>
            <a:ext cx="28080" cy="166932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1"/>
          <p:cNvSpPr/>
          <p:nvPr/>
        </p:nvSpPr>
        <p:spPr>
          <a:xfrm>
            <a:off x="714240" y="2285280"/>
            <a:ext cx="77148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Ключевые свойства смежных классов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2"/>
          <p:cNvSpPr/>
          <p:nvPr/>
        </p:nvSpPr>
        <p:spPr>
          <a:xfrm>
            <a:off x="714240" y="2472840"/>
            <a:ext cx="3814560" cy="583560"/>
          </a:xfrm>
          <a:prstGeom prst="rect">
            <a:avLst/>
          </a:prstGeom>
          <a:solidFill>
            <a:srgbClr val="3498d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3"/>
          <p:cNvSpPr/>
          <p:nvPr/>
        </p:nvSpPr>
        <p:spPr>
          <a:xfrm>
            <a:off x="714240" y="2472840"/>
            <a:ext cx="14040" cy="58356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4"/>
          <p:cNvSpPr/>
          <p:nvPr/>
        </p:nvSpPr>
        <p:spPr>
          <a:xfrm>
            <a:off x="800280" y="2544120"/>
            <a:ext cx="3642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Свойство 1: Разбиение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5"/>
          <p:cNvSpPr/>
          <p:nvPr/>
        </p:nvSpPr>
        <p:spPr>
          <a:xfrm>
            <a:off x="800280" y="2728080"/>
            <a:ext cx="3642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Смежные классы разбивают группу на непересекающиеся подмножества одинакового размера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6"/>
          <p:cNvSpPr/>
          <p:nvPr/>
        </p:nvSpPr>
        <p:spPr>
          <a:xfrm>
            <a:off x="4614840" y="2472840"/>
            <a:ext cx="3814560" cy="583560"/>
          </a:xfrm>
          <a:prstGeom prst="rect">
            <a:avLst/>
          </a:prstGeom>
          <a:solidFill>
            <a:srgbClr val="3498d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7"/>
          <p:cNvSpPr/>
          <p:nvPr/>
        </p:nvSpPr>
        <p:spPr>
          <a:xfrm>
            <a:off x="4614840" y="2472840"/>
            <a:ext cx="14040" cy="58356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8"/>
          <p:cNvSpPr/>
          <p:nvPr/>
        </p:nvSpPr>
        <p:spPr>
          <a:xfrm>
            <a:off x="4700520" y="2544120"/>
            <a:ext cx="3642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Свойство 2: Равномощность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9"/>
          <p:cNvSpPr/>
          <p:nvPr/>
        </p:nvSpPr>
        <p:spPr>
          <a:xfrm>
            <a:off x="4700520" y="2728080"/>
            <a:ext cx="36428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Все смежные классы имеют одинаковый размер: |gH| = |H| для любого g ∈ G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0"/>
          <p:cNvSpPr/>
          <p:nvPr/>
        </p:nvSpPr>
        <p:spPr>
          <a:xfrm>
            <a:off x="714240" y="3142440"/>
            <a:ext cx="3814560" cy="583560"/>
          </a:xfrm>
          <a:prstGeom prst="rect">
            <a:avLst/>
          </a:prstGeom>
          <a:solidFill>
            <a:srgbClr val="3498d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1"/>
          <p:cNvSpPr/>
          <p:nvPr/>
        </p:nvSpPr>
        <p:spPr>
          <a:xfrm>
            <a:off x="714240" y="3142440"/>
            <a:ext cx="14040" cy="58356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2"/>
          <p:cNvSpPr/>
          <p:nvPr/>
        </p:nvSpPr>
        <p:spPr>
          <a:xfrm>
            <a:off x="800280" y="3214080"/>
            <a:ext cx="3642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Свойство 3: Совпадение или непересечение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3"/>
          <p:cNvSpPr/>
          <p:nvPr/>
        </p:nvSpPr>
        <p:spPr>
          <a:xfrm>
            <a:off x="800280" y="3397680"/>
            <a:ext cx="3642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Два смежных класса либо совпадают, либо не пересекаются: gH ∩ g'H ≠ ∅ ⟹ gH = g'H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4"/>
          <p:cNvSpPr/>
          <p:nvPr/>
        </p:nvSpPr>
        <p:spPr>
          <a:xfrm>
            <a:off x="4614840" y="3142440"/>
            <a:ext cx="3814560" cy="583560"/>
          </a:xfrm>
          <a:prstGeom prst="rect">
            <a:avLst/>
          </a:prstGeom>
          <a:solidFill>
            <a:srgbClr val="3498d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5"/>
          <p:cNvSpPr/>
          <p:nvPr/>
        </p:nvSpPr>
        <p:spPr>
          <a:xfrm>
            <a:off x="4614840" y="3142440"/>
            <a:ext cx="14040" cy="58356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6"/>
          <p:cNvSpPr/>
          <p:nvPr/>
        </p:nvSpPr>
        <p:spPr>
          <a:xfrm>
            <a:off x="4700520" y="3214080"/>
            <a:ext cx="3642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Свойство 4: Абелевы группы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7"/>
          <p:cNvSpPr/>
          <p:nvPr/>
        </p:nvSpPr>
        <p:spPr>
          <a:xfrm>
            <a:off x="4700520" y="3397680"/>
            <a:ext cx="36428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 абелевых группах левые и правые смежные классы совпадают: gH = Hg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93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0"/>
          <p:cNvSpPr/>
          <p:nvPr/>
        </p:nvSpPr>
        <p:spPr>
          <a:xfrm rot="20700000">
            <a:off x="7432920" y="356760"/>
            <a:ext cx="99612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 rot="1200000">
            <a:off x="428760" y="448812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Примеры смежных классов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571680" y="826920"/>
            <a:ext cx="8000640" cy="9730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571680" y="826920"/>
            <a:ext cx="28080" cy="9730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700200" y="927000"/>
            <a:ext cx="77436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Пример 1: ℤ и четные числа 2ℤ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700200" y="110016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(ℤ, +), H = 2ℤ = {..., -4, -2, 0, 2, 4, ...}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00200" y="125388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0 + H = {..., -4, -2, 0, 2, 4, ...} (четные)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700200" y="141804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1 + H = {..., -3, -1, 1, 3, 5, ...} (нечетные)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700200" y="158220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Разбиение: ℤ = (0+H) ∪ (1+H)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571680" y="1957320"/>
            <a:ext cx="8000640" cy="113724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571680" y="1957320"/>
            <a:ext cx="28080" cy="11372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700200" y="125388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700200" y="141804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700200" y="2057400"/>
            <a:ext cx="77436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Пример 2: ℤ и кратные 3ℤ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700200" y="223056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(ℤ, +), H = 3ℤ = {..., -6, -3, 0, 3, 6, ...}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700200" y="238428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0 + H = {..., -6, -3, 0, 3, 6, ...} (остаток 0)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700200" y="254844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1 + H = {..., -5, -2, 1, 4, 7, ...} (остаток 1)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700200" y="271296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2 + H = {..., -4, -1, 2, 5, 8, ...} (остаток 2)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700200" y="287712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Разбиение: ℤ = (0+H) ∪ (1+H) ∪ (2+H)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571680" y="3252240"/>
            <a:ext cx="8000640" cy="113724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1"/>
          <p:cNvSpPr/>
          <p:nvPr/>
        </p:nvSpPr>
        <p:spPr>
          <a:xfrm>
            <a:off x="571680" y="3252240"/>
            <a:ext cx="28080" cy="113724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2"/>
          <p:cNvSpPr/>
          <p:nvPr/>
        </p:nvSpPr>
        <p:spPr>
          <a:xfrm>
            <a:off x="700200" y="238428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3"/>
          <p:cNvSpPr/>
          <p:nvPr/>
        </p:nvSpPr>
        <p:spPr>
          <a:xfrm>
            <a:off x="700200" y="254844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4"/>
          <p:cNvSpPr/>
          <p:nvPr/>
        </p:nvSpPr>
        <p:spPr>
          <a:xfrm>
            <a:off x="700200" y="271296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5"/>
          <p:cNvSpPr/>
          <p:nvPr/>
        </p:nvSpPr>
        <p:spPr>
          <a:xfrm>
            <a:off x="700200" y="3352320"/>
            <a:ext cx="77436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Пример 3: ℤ₁₂ и подгруппа ⟨3⟩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6"/>
          <p:cNvSpPr/>
          <p:nvPr/>
        </p:nvSpPr>
        <p:spPr>
          <a:xfrm>
            <a:off x="700200" y="352548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ℤ₁₂ = {0,1,2,...,11}, H = ⟨3⟩ = {0,3,6,9}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7"/>
          <p:cNvSpPr/>
          <p:nvPr/>
        </p:nvSpPr>
        <p:spPr>
          <a:xfrm>
            <a:off x="700200" y="367920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0 + H = {0, 3, 6, 9}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8"/>
          <p:cNvSpPr/>
          <p:nvPr/>
        </p:nvSpPr>
        <p:spPr>
          <a:xfrm>
            <a:off x="700200" y="384336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1 + H = {1, 4, 7, 10}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700200" y="400752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2 + H = {2, 5, 8, 11}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700200" y="417204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Индекс: [ℤ₁₂ : H] = 12/4 = 3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571680" y="4547160"/>
            <a:ext cx="8000640" cy="9730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571680" y="4547160"/>
            <a:ext cx="28080" cy="9730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3"/>
          <p:cNvSpPr/>
          <p:nvPr/>
        </p:nvSpPr>
        <p:spPr>
          <a:xfrm>
            <a:off x="700200" y="367920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700200" y="384336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5"/>
          <p:cNvSpPr/>
          <p:nvPr/>
        </p:nvSpPr>
        <p:spPr>
          <a:xfrm>
            <a:off x="700200" y="400752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700200" y="4646880"/>
            <a:ext cx="774360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Пример 4: S₃ и четные перестановки A₃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7"/>
          <p:cNvSpPr/>
          <p:nvPr/>
        </p:nvSpPr>
        <p:spPr>
          <a:xfrm>
            <a:off x="700200" y="482040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S₃, H = A₃ = {e, (123), (132)}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8"/>
          <p:cNvSpPr/>
          <p:nvPr/>
        </p:nvSpPr>
        <p:spPr>
          <a:xfrm>
            <a:off x="700200" y="497376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e·H = {e, (123), (132)} (четные)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9"/>
          <p:cNvSpPr/>
          <p:nvPr/>
        </p:nvSpPr>
        <p:spPr>
          <a:xfrm>
            <a:off x="700200" y="5138280"/>
            <a:ext cx="7743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(12)·H = {(12), (23), (13)} (нечетные)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700200" y="5302440"/>
            <a:ext cx="774360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Разбиение: S₃ = H ∪ (12)H, индекс [S₃ : A₃] = 2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1"/>
          <p:cNvSpPr/>
          <p:nvPr/>
        </p:nvSpPr>
        <p:spPr>
          <a:xfrm>
            <a:off x="700200" y="497376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2"/>
          <p:cNvSpPr/>
          <p:nvPr/>
        </p:nvSpPr>
        <p:spPr>
          <a:xfrm>
            <a:off x="700200" y="513828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0"/>
          <p:cNvSpPr/>
          <p:nvPr/>
        </p:nvSpPr>
        <p:spPr>
          <a:xfrm rot="20700000">
            <a:off x="7121880" y="357120"/>
            <a:ext cx="130680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|G|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Теорема Лагранжа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571680" y="826920"/>
            <a:ext cx="8000640" cy="1040040"/>
          </a:xfrm>
          <a:prstGeom prst="rect">
            <a:avLst/>
          </a:prstGeom>
          <a:solidFill>
            <a:srgbClr val="e74c3c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4"/>
          <p:cNvSpPr/>
          <p:nvPr/>
        </p:nvSpPr>
        <p:spPr>
          <a:xfrm>
            <a:off x="571680" y="826920"/>
            <a:ext cx="35280" cy="1040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728640" y="955440"/>
            <a:ext cx="76863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Теорема (Лагранж)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728640" y="1153800"/>
            <a:ext cx="76863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Если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H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подгруппа конечной группы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, то порядок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H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делит порядок </a:t>
            </a:r>
            <a:r>
              <a:rPr b="1" lang="en-US" sz="69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G</a:t>
            </a:r>
            <a:r>
              <a:rPr b="0" lang="en-US" sz="73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: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728640" y="1370880"/>
            <a:ext cx="76863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|H| divides |G|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728640" y="1554840"/>
            <a:ext cx="768636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|G| = |H| · [G : H]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9"/>
          <p:cNvSpPr/>
          <p:nvPr/>
        </p:nvSpPr>
        <p:spPr>
          <a:xfrm>
            <a:off x="571680" y="1967400"/>
            <a:ext cx="3943080" cy="86580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>
            <a:off x="571680" y="1967400"/>
            <a:ext cx="28080" cy="86580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685800" y="2067480"/>
            <a:ext cx="3714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Индекс подгруппы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685800" y="2240640"/>
            <a:ext cx="3714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[G:H]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количество различных левых смежных классов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3"/>
          <p:cNvSpPr/>
          <p:nvPr/>
        </p:nvSpPr>
        <p:spPr>
          <a:xfrm>
            <a:off x="685800" y="2404800"/>
            <a:ext cx="3714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Формула: [G:H] = |G| / |H|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685800" y="2569320"/>
            <a:ext cx="3714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Все смежные классы имеют одинаковый размер |H|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5"/>
          <p:cNvSpPr/>
          <p:nvPr/>
        </p:nvSpPr>
        <p:spPr>
          <a:xfrm>
            <a:off x="4629240" y="1967400"/>
            <a:ext cx="3943080" cy="86580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6"/>
          <p:cNvSpPr/>
          <p:nvPr/>
        </p:nvSpPr>
        <p:spPr>
          <a:xfrm>
            <a:off x="4629240" y="1967400"/>
            <a:ext cx="28080" cy="86580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685800" y="224064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8"/>
          <p:cNvSpPr/>
          <p:nvPr/>
        </p:nvSpPr>
        <p:spPr>
          <a:xfrm>
            <a:off x="685800" y="240480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9"/>
          <p:cNvSpPr/>
          <p:nvPr/>
        </p:nvSpPr>
        <p:spPr>
          <a:xfrm>
            <a:off x="685800" y="256932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0"/>
          <p:cNvSpPr/>
          <p:nvPr/>
        </p:nvSpPr>
        <p:spPr>
          <a:xfrm>
            <a:off x="4743360" y="2067480"/>
            <a:ext cx="371448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Следствия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1"/>
          <p:cNvSpPr/>
          <p:nvPr/>
        </p:nvSpPr>
        <p:spPr>
          <a:xfrm>
            <a:off x="4743360" y="2240640"/>
            <a:ext cx="3714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Порядок любого элемента делит |G|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2"/>
          <p:cNvSpPr/>
          <p:nvPr/>
        </p:nvSpPr>
        <p:spPr>
          <a:xfrm>
            <a:off x="4743360" y="2404800"/>
            <a:ext cx="3714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Если |G| = p (простое), то G циклична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3"/>
          <p:cNvSpPr/>
          <p:nvPr/>
        </p:nvSpPr>
        <p:spPr>
          <a:xfrm>
            <a:off x="4743360" y="2569320"/>
            <a:ext cx="3714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g^|G| = e для всех g ∈ G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4"/>
          <p:cNvSpPr/>
          <p:nvPr/>
        </p:nvSpPr>
        <p:spPr>
          <a:xfrm>
            <a:off x="571680" y="3004920"/>
            <a:ext cx="8000640" cy="86580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5"/>
          <p:cNvSpPr/>
          <p:nvPr/>
        </p:nvSpPr>
        <p:spPr>
          <a:xfrm>
            <a:off x="571680" y="3004920"/>
            <a:ext cx="28080" cy="8658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6"/>
          <p:cNvSpPr/>
          <p:nvPr/>
        </p:nvSpPr>
        <p:spPr>
          <a:xfrm>
            <a:off x="4743360" y="224064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7"/>
          <p:cNvSpPr/>
          <p:nvPr/>
        </p:nvSpPr>
        <p:spPr>
          <a:xfrm>
            <a:off x="4743360" y="240480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8"/>
          <p:cNvSpPr/>
          <p:nvPr/>
        </p:nvSpPr>
        <p:spPr>
          <a:xfrm>
            <a:off x="4743360" y="256932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9"/>
          <p:cNvSpPr/>
          <p:nvPr/>
        </p:nvSpPr>
        <p:spPr>
          <a:xfrm>
            <a:off x="685800" y="310500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Практические примеры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0"/>
          <p:cNvSpPr/>
          <p:nvPr/>
        </p:nvSpPr>
        <p:spPr>
          <a:xfrm>
            <a:off x="685800" y="327816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 ℤ₁₂: подгруппа ⟨3⟩ = {0,3,6,9} имеет порядок 4, и 4 делит 12 ✓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1"/>
          <p:cNvSpPr/>
          <p:nvPr/>
        </p:nvSpPr>
        <p:spPr>
          <a:xfrm>
            <a:off x="685800" y="344268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 S₃ (порядок 6): подгруппа A₃ имеет порядок 3, индекс [S₃:A₃] = 2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2"/>
          <p:cNvSpPr/>
          <p:nvPr/>
        </p:nvSpPr>
        <p:spPr>
          <a:xfrm>
            <a:off x="685800" y="360684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 ℤ₂₀: элемент 4 имеет порядок 5, и 5 делит 20 ✓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3"/>
          <p:cNvSpPr/>
          <p:nvPr/>
        </p:nvSpPr>
        <p:spPr>
          <a:xfrm>
            <a:off x="685800" y="327816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4"/>
          <p:cNvSpPr/>
          <p:nvPr/>
        </p:nvSpPr>
        <p:spPr>
          <a:xfrm>
            <a:off x="685800" y="344268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5"/>
          <p:cNvSpPr/>
          <p:nvPr/>
        </p:nvSpPr>
        <p:spPr>
          <a:xfrm>
            <a:off x="685800" y="3606840"/>
            <a:ext cx="8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→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4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0"/>
          <p:cNvSpPr/>
          <p:nvPr/>
        </p:nvSpPr>
        <p:spPr>
          <a:xfrm rot="20700000">
            <a:off x="7715160" y="357120"/>
            <a:ext cx="71388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⊗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 rot="1200000">
            <a:off x="428760" y="398988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Группы в геометрии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3"/>
          <p:cNvSpPr/>
          <p:nvPr/>
        </p:nvSpPr>
        <p:spPr>
          <a:xfrm>
            <a:off x="571680" y="826920"/>
            <a:ext cx="8000640" cy="12052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4"/>
          <p:cNvSpPr/>
          <p:nvPr/>
        </p:nvSpPr>
        <p:spPr>
          <a:xfrm>
            <a:off x="571680" y="826920"/>
            <a:ext cx="28080" cy="12052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685800" y="92700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Группы движений плоскости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685800" y="110016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Трансляция (параллельный перенос):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T_v(x) = x + v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685800" y="127152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Поворот: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R_θ(x) — поворот на угол θ вокруг начала координат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8"/>
          <p:cNvSpPr/>
          <p:nvPr/>
        </p:nvSpPr>
        <p:spPr>
          <a:xfrm>
            <a:off x="685800" y="144288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Отражение: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S_l(x) — отражение относительно прямой l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9"/>
          <p:cNvSpPr/>
          <p:nvPr/>
        </p:nvSpPr>
        <p:spPr>
          <a:xfrm>
            <a:off x="685800" y="161460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Скользящее отражение: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композиция отражения и трансляции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0"/>
          <p:cNvSpPr/>
          <p:nvPr/>
        </p:nvSpPr>
        <p:spPr>
          <a:xfrm>
            <a:off x="685800" y="1785960"/>
            <a:ext cx="777204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Группа движений E(2) — все движения евклидовой плоскости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1"/>
          <p:cNvSpPr/>
          <p:nvPr/>
        </p:nvSpPr>
        <p:spPr>
          <a:xfrm>
            <a:off x="571680" y="2203920"/>
            <a:ext cx="8000640" cy="174456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2"/>
          <p:cNvSpPr/>
          <p:nvPr/>
        </p:nvSpPr>
        <p:spPr>
          <a:xfrm>
            <a:off x="571680" y="2203920"/>
            <a:ext cx="28080" cy="1744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3"/>
          <p:cNvSpPr/>
          <p:nvPr/>
        </p:nvSpPr>
        <p:spPr>
          <a:xfrm>
            <a:off x="685800" y="11001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685800" y="127152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5"/>
          <p:cNvSpPr/>
          <p:nvPr/>
        </p:nvSpPr>
        <p:spPr>
          <a:xfrm>
            <a:off x="685800" y="144288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6"/>
          <p:cNvSpPr/>
          <p:nvPr/>
        </p:nvSpPr>
        <p:spPr>
          <a:xfrm>
            <a:off x="685800" y="161460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7"/>
          <p:cNvSpPr/>
          <p:nvPr/>
        </p:nvSpPr>
        <p:spPr>
          <a:xfrm>
            <a:off x="685800" y="230400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Группы симметрий геометрических фигур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8"/>
          <p:cNvSpPr/>
          <p:nvPr/>
        </p:nvSpPr>
        <p:spPr>
          <a:xfrm>
            <a:off x="685800" y="24771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9"/>
          <p:cNvSpPr/>
          <p:nvPr/>
        </p:nvSpPr>
        <p:spPr>
          <a:xfrm>
            <a:off x="778680" y="2482560"/>
            <a:ext cx="5576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Квадрат (D₄):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0"/>
          <p:cNvSpPr/>
          <p:nvPr/>
        </p:nvSpPr>
        <p:spPr>
          <a:xfrm>
            <a:off x="1336680" y="2482560"/>
            <a:ext cx="5414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8 элементов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1"/>
          <p:cNvSpPr/>
          <p:nvPr/>
        </p:nvSpPr>
        <p:spPr>
          <a:xfrm>
            <a:off x="892800" y="2605680"/>
            <a:ext cx="756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4 поворота: 0°, 90°, 180°, 270°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2"/>
          <p:cNvSpPr/>
          <p:nvPr/>
        </p:nvSpPr>
        <p:spPr>
          <a:xfrm>
            <a:off x="892800" y="2763000"/>
            <a:ext cx="756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4 отражения: относительно диагоналей и средних линий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3"/>
          <p:cNvSpPr/>
          <p:nvPr/>
        </p:nvSpPr>
        <p:spPr>
          <a:xfrm>
            <a:off x="892800" y="260568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→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4"/>
          <p:cNvSpPr/>
          <p:nvPr/>
        </p:nvSpPr>
        <p:spPr>
          <a:xfrm>
            <a:off x="892800" y="276300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→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5"/>
          <p:cNvSpPr/>
          <p:nvPr/>
        </p:nvSpPr>
        <p:spPr>
          <a:xfrm>
            <a:off x="685800" y="29343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6"/>
          <p:cNvSpPr/>
          <p:nvPr/>
        </p:nvSpPr>
        <p:spPr>
          <a:xfrm>
            <a:off x="778680" y="2939760"/>
            <a:ext cx="128376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Правильный n-угольник (Dₙ):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7"/>
          <p:cNvSpPr/>
          <p:nvPr/>
        </p:nvSpPr>
        <p:spPr>
          <a:xfrm>
            <a:off x="2062800" y="2939760"/>
            <a:ext cx="59472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2n элементов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8"/>
          <p:cNvSpPr/>
          <p:nvPr/>
        </p:nvSpPr>
        <p:spPr>
          <a:xfrm>
            <a:off x="892800" y="3062880"/>
            <a:ext cx="756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n поворотов на углы 2πk/n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9"/>
          <p:cNvSpPr/>
          <p:nvPr/>
        </p:nvSpPr>
        <p:spPr>
          <a:xfrm>
            <a:off x="892800" y="3220200"/>
            <a:ext cx="756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n отражений (диэдральная группа)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0"/>
          <p:cNvSpPr/>
          <p:nvPr/>
        </p:nvSpPr>
        <p:spPr>
          <a:xfrm>
            <a:off x="892800" y="306288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→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1"/>
          <p:cNvSpPr/>
          <p:nvPr/>
        </p:nvSpPr>
        <p:spPr>
          <a:xfrm>
            <a:off x="892800" y="322020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→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2"/>
          <p:cNvSpPr/>
          <p:nvPr/>
        </p:nvSpPr>
        <p:spPr>
          <a:xfrm>
            <a:off x="685800" y="33915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3"/>
          <p:cNvSpPr/>
          <p:nvPr/>
        </p:nvSpPr>
        <p:spPr>
          <a:xfrm>
            <a:off x="778680" y="3396960"/>
            <a:ext cx="17892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Куб: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4"/>
          <p:cNvSpPr/>
          <p:nvPr/>
        </p:nvSpPr>
        <p:spPr>
          <a:xfrm>
            <a:off x="957960" y="3396960"/>
            <a:ext cx="59076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48 элементов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5"/>
          <p:cNvSpPr/>
          <p:nvPr/>
        </p:nvSpPr>
        <p:spPr>
          <a:xfrm>
            <a:off x="892800" y="3520080"/>
            <a:ext cx="756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24 ротационные симметрии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6"/>
          <p:cNvSpPr/>
          <p:nvPr/>
        </p:nvSpPr>
        <p:spPr>
          <a:xfrm>
            <a:off x="892800" y="3677400"/>
            <a:ext cx="756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24 зеркальные симметрии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7"/>
          <p:cNvSpPr/>
          <p:nvPr/>
        </p:nvSpPr>
        <p:spPr>
          <a:xfrm>
            <a:off x="571680" y="4120200"/>
            <a:ext cx="8000640" cy="88740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8"/>
          <p:cNvSpPr/>
          <p:nvPr/>
        </p:nvSpPr>
        <p:spPr>
          <a:xfrm>
            <a:off x="571680" y="4120200"/>
            <a:ext cx="28080" cy="88740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9"/>
          <p:cNvSpPr/>
          <p:nvPr/>
        </p:nvSpPr>
        <p:spPr>
          <a:xfrm>
            <a:off x="892800" y="352008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→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0"/>
          <p:cNvSpPr/>
          <p:nvPr/>
        </p:nvSpPr>
        <p:spPr>
          <a:xfrm>
            <a:off x="892800" y="3677400"/>
            <a:ext cx="70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-US" sz="5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→</a:t>
            </a:r>
            <a:endParaRPr b="0" lang="en-US" sz="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1"/>
          <p:cNvSpPr/>
          <p:nvPr/>
        </p:nvSpPr>
        <p:spPr>
          <a:xfrm>
            <a:off x="685800" y="422028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Кристаллографические группы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42"/>
          <p:cNvSpPr/>
          <p:nvPr/>
        </p:nvSpPr>
        <p:spPr>
          <a:xfrm>
            <a:off x="685800" y="439344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Размерность 2 (орнаменты):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17 кристаллографических групп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3"/>
          <p:cNvSpPr/>
          <p:nvPr/>
        </p:nvSpPr>
        <p:spPr>
          <a:xfrm>
            <a:off x="685800" y="456480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Размерность 3 (кристаллы):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230 кристаллографических групп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4"/>
          <p:cNvSpPr/>
          <p:nvPr/>
        </p:nvSpPr>
        <p:spPr>
          <a:xfrm>
            <a:off x="685800" y="473616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Приложения: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классификация кристаллических решеток в природе и архитектуре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5"/>
          <p:cNvSpPr/>
          <p:nvPr/>
        </p:nvSpPr>
        <p:spPr>
          <a:xfrm>
            <a:off x="685800" y="439344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6"/>
          <p:cNvSpPr/>
          <p:nvPr/>
        </p:nvSpPr>
        <p:spPr>
          <a:xfrm>
            <a:off x="685800" y="456480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7"/>
          <p:cNvSpPr/>
          <p:nvPr/>
        </p:nvSpPr>
        <p:spPr>
          <a:xfrm>
            <a:off x="685800" y="47361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0"/>
          <p:cNvSpPr/>
          <p:nvPr/>
        </p:nvSpPr>
        <p:spPr>
          <a:xfrm rot="20700000">
            <a:off x="6642000" y="357120"/>
            <a:ext cx="178704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SO(3)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Группы в физике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571680" y="826920"/>
            <a:ext cx="8000640" cy="102996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4"/>
          <p:cNvSpPr/>
          <p:nvPr/>
        </p:nvSpPr>
        <p:spPr>
          <a:xfrm>
            <a:off x="571680" y="826920"/>
            <a:ext cx="28080" cy="102996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5"/>
          <p:cNvSpPr/>
          <p:nvPr/>
        </p:nvSpPr>
        <p:spPr>
          <a:xfrm>
            <a:off x="685800" y="92700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Группы Ли в физике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685800" y="110016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SO(3)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группа поворотов трехмерного пространства (ротационная симметрия)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685800" y="126432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SU(2)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специальная унитарная группа (спин, слабое взаимодействие)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685800" y="142884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U(1)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группа фазовых преобразований (электромагнетизм)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685800" y="159300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SU(3)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цветная симметрия (сильное взаимодействие, кварки)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0"/>
          <p:cNvSpPr/>
          <p:nvPr/>
        </p:nvSpPr>
        <p:spPr>
          <a:xfrm>
            <a:off x="571680" y="2028960"/>
            <a:ext cx="8000640" cy="114156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1"/>
          <p:cNvSpPr/>
          <p:nvPr/>
        </p:nvSpPr>
        <p:spPr>
          <a:xfrm>
            <a:off x="571680" y="2028960"/>
            <a:ext cx="28080" cy="1141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2"/>
          <p:cNvSpPr/>
          <p:nvPr/>
        </p:nvSpPr>
        <p:spPr>
          <a:xfrm>
            <a:off x="685800" y="11001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685800" y="126432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4"/>
          <p:cNvSpPr/>
          <p:nvPr/>
        </p:nvSpPr>
        <p:spPr>
          <a:xfrm>
            <a:off x="685800" y="142884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685800" y="159300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6"/>
          <p:cNvSpPr/>
          <p:nvPr/>
        </p:nvSpPr>
        <p:spPr>
          <a:xfrm>
            <a:off x="685800" y="212868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Физические симметрии и законы сохранения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7"/>
          <p:cNvSpPr/>
          <p:nvPr/>
        </p:nvSpPr>
        <p:spPr>
          <a:xfrm>
            <a:off x="685800" y="2302200"/>
            <a:ext cx="2542680" cy="348120"/>
          </a:xfrm>
          <a:prstGeom prst="rect">
            <a:avLst/>
          </a:prstGeom>
          <a:solidFill>
            <a:srgbClr val="e74c3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8"/>
          <p:cNvSpPr/>
          <p:nvPr/>
        </p:nvSpPr>
        <p:spPr>
          <a:xfrm>
            <a:off x="685800" y="2302200"/>
            <a:ext cx="14040" cy="348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757080" y="235908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Трансляция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0"/>
          <p:cNvSpPr/>
          <p:nvPr/>
        </p:nvSpPr>
        <p:spPr>
          <a:xfrm>
            <a:off x="757080" y="248364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→ Сохранение импульса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1"/>
          <p:cNvSpPr/>
          <p:nvPr/>
        </p:nvSpPr>
        <p:spPr>
          <a:xfrm>
            <a:off x="3300480" y="2302200"/>
            <a:ext cx="2542680" cy="348120"/>
          </a:xfrm>
          <a:prstGeom prst="rect">
            <a:avLst/>
          </a:prstGeom>
          <a:solidFill>
            <a:srgbClr val="e74c3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2"/>
          <p:cNvSpPr/>
          <p:nvPr/>
        </p:nvSpPr>
        <p:spPr>
          <a:xfrm>
            <a:off x="3300480" y="2302200"/>
            <a:ext cx="14040" cy="348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3"/>
          <p:cNvSpPr/>
          <p:nvPr/>
        </p:nvSpPr>
        <p:spPr>
          <a:xfrm>
            <a:off x="3371760" y="235908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Ротация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4"/>
          <p:cNvSpPr/>
          <p:nvPr/>
        </p:nvSpPr>
        <p:spPr>
          <a:xfrm>
            <a:off x="3371760" y="248364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→ Сохранение момента импульса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5"/>
          <p:cNvSpPr/>
          <p:nvPr/>
        </p:nvSpPr>
        <p:spPr>
          <a:xfrm>
            <a:off x="5915160" y="2302200"/>
            <a:ext cx="2542680" cy="348120"/>
          </a:xfrm>
          <a:prstGeom prst="rect">
            <a:avLst/>
          </a:prstGeom>
          <a:solidFill>
            <a:srgbClr val="e74c3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5915160" y="2302200"/>
            <a:ext cx="14040" cy="348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7"/>
          <p:cNvSpPr/>
          <p:nvPr/>
        </p:nvSpPr>
        <p:spPr>
          <a:xfrm>
            <a:off x="5986440" y="235908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Временная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8"/>
          <p:cNvSpPr/>
          <p:nvPr/>
        </p:nvSpPr>
        <p:spPr>
          <a:xfrm>
            <a:off x="5986440" y="248364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→ Сохранение энергии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9"/>
          <p:cNvSpPr/>
          <p:nvPr/>
        </p:nvSpPr>
        <p:spPr>
          <a:xfrm>
            <a:off x="685800" y="2721960"/>
            <a:ext cx="2542680" cy="348120"/>
          </a:xfrm>
          <a:prstGeom prst="rect">
            <a:avLst/>
          </a:prstGeom>
          <a:solidFill>
            <a:srgbClr val="e74c3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0"/>
          <p:cNvSpPr/>
          <p:nvPr/>
        </p:nvSpPr>
        <p:spPr>
          <a:xfrm>
            <a:off x="685800" y="2721960"/>
            <a:ext cx="14040" cy="348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1"/>
          <p:cNvSpPr/>
          <p:nvPr/>
        </p:nvSpPr>
        <p:spPr>
          <a:xfrm>
            <a:off x="757080" y="277920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Калибровочная U(1)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2"/>
          <p:cNvSpPr/>
          <p:nvPr/>
        </p:nvSpPr>
        <p:spPr>
          <a:xfrm>
            <a:off x="757080" y="290340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→ Сохранение заряда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3"/>
          <p:cNvSpPr/>
          <p:nvPr/>
        </p:nvSpPr>
        <p:spPr>
          <a:xfrm>
            <a:off x="3300480" y="2721960"/>
            <a:ext cx="2542680" cy="348120"/>
          </a:xfrm>
          <a:prstGeom prst="rect">
            <a:avLst/>
          </a:prstGeom>
          <a:solidFill>
            <a:srgbClr val="e74c3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4"/>
          <p:cNvSpPr/>
          <p:nvPr/>
        </p:nvSpPr>
        <p:spPr>
          <a:xfrm>
            <a:off x="3300480" y="2721960"/>
            <a:ext cx="14040" cy="348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5"/>
          <p:cNvSpPr/>
          <p:nvPr/>
        </p:nvSpPr>
        <p:spPr>
          <a:xfrm>
            <a:off x="3371760" y="277920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Изотопическая SU(2)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6"/>
          <p:cNvSpPr/>
          <p:nvPr/>
        </p:nvSpPr>
        <p:spPr>
          <a:xfrm>
            <a:off x="3371760" y="290340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→ Слабое взаимодействие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7"/>
          <p:cNvSpPr/>
          <p:nvPr/>
        </p:nvSpPr>
        <p:spPr>
          <a:xfrm>
            <a:off x="5915160" y="2721960"/>
            <a:ext cx="2542680" cy="348120"/>
          </a:xfrm>
          <a:prstGeom prst="rect">
            <a:avLst/>
          </a:prstGeom>
          <a:solidFill>
            <a:srgbClr val="e74c3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8"/>
          <p:cNvSpPr/>
          <p:nvPr/>
        </p:nvSpPr>
        <p:spPr>
          <a:xfrm>
            <a:off x="5915160" y="2721960"/>
            <a:ext cx="14040" cy="348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9"/>
          <p:cNvSpPr/>
          <p:nvPr/>
        </p:nvSpPr>
        <p:spPr>
          <a:xfrm>
            <a:off x="5986440" y="277920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Цветовая SU(3)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0"/>
          <p:cNvSpPr/>
          <p:nvPr/>
        </p:nvSpPr>
        <p:spPr>
          <a:xfrm>
            <a:off x="5986440" y="2903400"/>
            <a:ext cx="240012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→ Сильное взаимодействие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41"/>
          <p:cNvSpPr/>
          <p:nvPr/>
        </p:nvSpPr>
        <p:spPr>
          <a:xfrm>
            <a:off x="571680" y="3342240"/>
            <a:ext cx="8000640" cy="10123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2"/>
          <p:cNvSpPr/>
          <p:nvPr/>
        </p:nvSpPr>
        <p:spPr>
          <a:xfrm>
            <a:off x="571680" y="3342240"/>
            <a:ext cx="28080" cy="101232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3"/>
          <p:cNvSpPr/>
          <p:nvPr/>
        </p:nvSpPr>
        <p:spPr>
          <a:xfrm>
            <a:off x="685800" y="3442320"/>
            <a:ext cx="777204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Стандартная модель элементарных частиц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4"/>
          <p:cNvSpPr/>
          <p:nvPr/>
        </p:nvSpPr>
        <p:spPr>
          <a:xfrm>
            <a:off x="685800" y="3615480"/>
            <a:ext cx="777204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Группа симметрии: SU(3) × SU(2) × U(1)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5"/>
          <p:cNvSpPr/>
          <p:nvPr/>
        </p:nvSpPr>
        <p:spPr>
          <a:xfrm>
            <a:off x="685800" y="376200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SU(3)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сильное взаимодействие (кварки, глюоны)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6"/>
          <p:cNvSpPr/>
          <p:nvPr/>
        </p:nvSpPr>
        <p:spPr>
          <a:xfrm>
            <a:off x="685800" y="392616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SU(2)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слабое взаимодействие (W, Z бозоны)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7"/>
          <p:cNvSpPr/>
          <p:nvPr/>
        </p:nvSpPr>
        <p:spPr>
          <a:xfrm>
            <a:off x="685800" y="4090320"/>
            <a:ext cx="777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052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U(1)</a:t>
            </a:r>
            <a:r>
              <a:rPr b="0" lang="en-US" sz="62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 — электромагнитное взаимодействие (фотон)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8"/>
          <p:cNvSpPr/>
          <p:nvPr/>
        </p:nvSpPr>
        <p:spPr>
          <a:xfrm>
            <a:off x="685800" y="376200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9"/>
          <p:cNvSpPr/>
          <p:nvPr/>
        </p:nvSpPr>
        <p:spPr>
          <a:xfrm>
            <a:off x="685800" y="392616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50"/>
          <p:cNvSpPr/>
          <p:nvPr/>
        </p:nvSpPr>
        <p:spPr>
          <a:xfrm>
            <a:off x="685800" y="4090320"/>
            <a:ext cx="32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•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 0"/>
          <p:cNvSpPr/>
          <p:nvPr/>
        </p:nvSpPr>
        <p:spPr>
          <a:xfrm rot="20700000">
            <a:off x="7432920" y="356760"/>
            <a:ext cx="99612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 rot="1200000">
            <a:off x="428760" y="3696840"/>
            <a:ext cx="39636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100"/>
              </a:lnSpc>
              <a:tabLst>
                <a:tab algn="l" pos="0"/>
              </a:tabLst>
            </a:pPr>
            <a:r>
              <a:rPr b="0" lang="en-US" sz="496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571680" y="357120"/>
            <a:ext cx="800064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Ключевые выводы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3"/>
          <p:cNvSpPr/>
          <p:nvPr/>
        </p:nvSpPr>
        <p:spPr>
          <a:xfrm>
            <a:off x="571680" y="812520"/>
            <a:ext cx="3950280" cy="744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571680" y="812520"/>
            <a:ext cx="28080" cy="74412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5"/>
          <p:cNvSpPr/>
          <p:nvPr/>
        </p:nvSpPr>
        <p:spPr>
          <a:xfrm>
            <a:off x="685800" y="9126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1. Циклические группы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6"/>
          <p:cNvSpPr/>
          <p:nvPr/>
        </p:nvSpPr>
        <p:spPr>
          <a:xfrm>
            <a:off x="685800" y="10627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Порождаются одним элементом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7"/>
          <p:cNvSpPr/>
          <p:nvPr/>
        </p:nvSpPr>
        <p:spPr>
          <a:xfrm>
            <a:off x="685800" y="11941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Всегда абелевы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8"/>
          <p:cNvSpPr/>
          <p:nvPr/>
        </p:nvSpPr>
        <p:spPr>
          <a:xfrm>
            <a:off x="685800" y="13255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Полностью определены порядком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9"/>
          <p:cNvSpPr/>
          <p:nvPr/>
        </p:nvSpPr>
        <p:spPr>
          <a:xfrm>
            <a:off x="4622040" y="812520"/>
            <a:ext cx="3950280" cy="744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0"/>
          <p:cNvSpPr/>
          <p:nvPr/>
        </p:nvSpPr>
        <p:spPr>
          <a:xfrm>
            <a:off x="4622040" y="812520"/>
            <a:ext cx="28080" cy="744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1"/>
          <p:cNvSpPr/>
          <p:nvPr/>
        </p:nvSpPr>
        <p:spPr>
          <a:xfrm>
            <a:off x="685800" y="10627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2"/>
          <p:cNvSpPr/>
          <p:nvPr/>
        </p:nvSpPr>
        <p:spPr>
          <a:xfrm>
            <a:off x="685800" y="11941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3"/>
          <p:cNvSpPr/>
          <p:nvPr/>
        </p:nvSpPr>
        <p:spPr>
          <a:xfrm>
            <a:off x="685800" y="13255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4"/>
          <p:cNvSpPr/>
          <p:nvPr/>
        </p:nvSpPr>
        <p:spPr>
          <a:xfrm>
            <a:off x="4736160" y="9126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2. Системы порождающих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5"/>
          <p:cNvSpPr/>
          <p:nvPr/>
        </p:nvSpPr>
        <p:spPr>
          <a:xfrm>
            <a:off x="4736160" y="10627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Описывают группу через образующие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6"/>
          <p:cNvSpPr/>
          <p:nvPr/>
        </p:nvSpPr>
        <p:spPr>
          <a:xfrm>
            <a:off x="4736160" y="11941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Презентация: ⟨S | R⟩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7"/>
          <p:cNvSpPr/>
          <p:nvPr/>
        </p:nvSpPr>
        <p:spPr>
          <a:xfrm>
            <a:off x="4736160" y="13255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Минимальные системы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8"/>
          <p:cNvSpPr/>
          <p:nvPr/>
        </p:nvSpPr>
        <p:spPr>
          <a:xfrm>
            <a:off x="571680" y="1657080"/>
            <a:ext cx="3950280" cy="73404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9"/>
          <p:cNvSpPr/>
          <p:nvPr/>
        </p:nvSpPr>
        <p:spPr>
          <a:xfrm>
            <a:off x="571680" y="1657080"/>
            <a:ext cx="28080" cy="73404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0"/>
          <p:cNvSpPr/>
          <p:nvPr/>
        </p:nvSpPr>
        <p:spPr>
          <a:xfrm>
            <a:off x="4736160" y="10627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1"/>
          <p:cNvSpPr/>
          <p:nvPr/>
        </p:nvSpPr>
        <p:spPr>
          <a:xfrm>
            <a:off x="4736160" y="11941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2"/>
          <p:cNvSpPr/>
          <p:nvPr/>
        </p:nvSpPr>
        <p:spPr>
          <a:xfrm>
            <a:off x="4736160" y="13255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3"/>
          <p:cNvSpPr/>
          <p:nvPr/>
        </p:nvSpPr>
        <p:spPr>
          <a:xfrm>
            <a:off x="685800" y="17568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3. Смежные классы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4"/>
          <p:cNvSpPr/>
          <p:nvPr/>
        </p:nvSpPr>
        <p:spPr>
          <a:xfrm>
            <a:off x="685800" y="19069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Разбивают группу на части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5"/>
          <p:cNvSpPr/>
          <p:nvPr/>
        </p:nvSpPr>
        <p:spPr>
          <a:xfrm>
            <a:off x="685800" y="20383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Все одинакового размера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6"/>
          <p:cNvSpPr/>
          <p:nvPr/>
        </p:nvSpPr>
        <p:spPr>
          <a:xfrm>
            <a:off x="685800" y="2169720"/>
            <a:ext cx="37216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G = ∪ gᵢH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7"/>
          <p:cNvSpPr/>
          <p:nvPr/>
        </p:nvSpPr>
        <p:spPr>
          <a:xfrm>
            <a:off x="4622040" y="1657080"/>
            <a:ext cx="3950280" cy="73404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28"/>
          <p:cNvSpPr/>
          <p:nvPr/>
        </p:nvSpPr>
        <p:spPr>
          <a:xfrm>
            <a:off x="4622040" y="1657080"/>
            <a:ext cx="28080" cy="734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9"/>
          <p:cNvSpPr/>
          <p:nvPr/>
        </p:nvSpPr>
        <p:spPr>
          <a:xfrm>
            <a:off x="685800" y="19069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685800" y="20383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31"/>
          <p:cNvSpPr/>
          <p:nvPr/>
        </p:nvSpPr>
        <p:spPr>
          <a:xfrm>
            <a:off x="4736160" y="175680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4. Теорема Лагранжа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32"/>
          <p:cNvSpPr/>
          <p:nvPr/>
        </p:nvSpPr>
        <p:spPr>
          <a:xfrm>
            <a:off x="4736160" y="19069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|H| делит |G|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3"/>
          <p:cNvSpPr/>
          <p:nvPr/>
        </p:nvSpPr>
        <p:spPr>
          <a:xfrm>
            <a:off x="4736160" y="203832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ord(g) делит |G|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4"/>
          <p:cNvSpPr/>
          <p:nvPr/>
        </p:nvSpPr>
        <p:spPr>
          <a:xfrm>
            <a:off x="4736160" y="2169720"/>
            <a:ext cx="37216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[G:H] = |G|/|H|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35"/>
          <p:cNvSpPr/>
          <p:nvPr/>
        </p:nvSpPr>
        <p:spPr>
          <a:xfrm>
            <a:off x="571680" y="2491200"/>
            <a:ext cx="3950280" cy="744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36"/>
          <p:cNvSpPr/>
          <p:nvPr/>
        </p:nvSpPr>
        <p:spPr>
          <a:xfrm>
            <a:off x="571680" y="2491200"/>
            <a:ext cx="28080" cy="74412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7"/>
          <p:cNvSpPr/>
          <p:nvPr/>
        </p:nvSpPr>
        <p:spPr>
          <a:xfrm>
            <a:off x="4736160" y="19069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8"/>
          <p:cNvSpPr/>
          <p:nvPr/>
        </p:nvSpPr>
        <p:spPr>
          <a:xfrm>
            <a:off x="4736160" y="203832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9"/>
          <p:cNvSpPr/>
          <p:nvPr/>
        </p:nvSpPr>
        <p:spPr>
          <a:xfrm>
            <a:off x="685800" y="259128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9b59b6"/>
                </a:solidFill>
                <a:effectLst/>
                <a:uFillTx/>
                <a:latin typeface="Calibri"/>
              </a:rPr>
              <a:t>5. Геометрические приложения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40"/>
          <p:cNvSpPr/>
          <p:nvPr/>
        </p:nvSpPr>
        <p:spPr>
          <a:xfrm>
            <a:off x="685800" y="274140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Группы симметрий фигур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41"/>
          <p:cNvSpPr/>
          <p:nvPr/>
        </p:nvSpPr>
        <p:spPr>
          <a:xfrm>
            <a:off x="685800" y="287280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Кристаллографические группы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2"/>
          <p:cNvSpPr/>
          <p:nvPr/>
        </p:nvSpPr>
        <p:spPr>
          <a:xfrm>
            <a:off x="685800" y="300420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Движения плоскости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43"/>
          <p:cNvSpPr/>
          <p:nvPr/>
        </p:nvSpPr>
        <p:spPr>
          <a:xfrm>
            <a:off x="4622040" y="2491200"/>
            <a:ext cx="3950280" cy="74412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44"/>
          <p:cNvSpPr/>
          <p:nvPr/>
        </p:nvSpPr>
        <p:spPr>
          <a:xfrm>
            <a:off x="4622040" y="2491200"/>
            <a:ext cx="28080" cy="744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45"/>
          <p:cNvSpPr/>
          <p:nvPr/>
        </p:nvSpPr>
        <p:spPr>
          <a:xfrm>
            <a:off x="685800" y="274140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6"/>
          <p:cNvSpPr/>
          <p:nvPr/>
        </p:nvSpPr>
        <p:spPr>
          <a:xfrm>
            <a:off x="685800" y="287280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47"/>
          <p:cNvSpPr/>
          <p:nvPr/>
        </p:nvSpPr>
        <p:spPr>
          <a:xfrm>
            <a:off x="685800" y="300420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48"/>
          <p:cNvSpPr/>
          <p:nvPr/>
        </p:nvSpPr>
        <p:spPr>
          <a:xfrm>
            <a:off x="4736160" y="2591280"/>
            <a:ext cx="372168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e67e22"/>
                </a:solidFill>
                <a:effectLst/>
                <a:uFillTx/>
                <a:latin typeface="Calibri"/>
              </a:rPr>
              <a:t>6. Физические приложения</a:t>
            </a:r>
            <a:endParaRPr b="0" lang="en-US" sz="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9"/>
          <p:cNvSpPr/>
          <p:nvPr/>
        </p:nvSpPr>
        <p:spPr>
          <a:xfrm>
            <a:off x="4736160" y="274140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Группы Ли и симметрии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50"/>
          <p:cNvSpPr/>
          <p:nvPr/>
        </p:nvSpPr>
        <p:spPr>
          <a:xfrm>
            <a:off x="4736160" y="287280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Законы сохранения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51"/>
          <p:cNvSpPr/>
          <p:nvPr/>
        </p:nvSpPr>
        <p:spPr>
          <a:xfrm>
            <a:off x="4736160" y="3004200"/>
            <a:ext cx="372168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360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5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Стандартная модель</a:t>
            </a:r>
            <a:endParaRPr b="0" lang="en-US" sz="5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52"/>
          <p:cNvSpPr/>
          <p:nvPr/>
        </p:nvSpPr>
        <p:spPr>
          <a:xfrm>
            <a:off x="4736160" y="274140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3"/>
          <p:cNvSpPr/>
          <p:nvPr/>
        </p:nvSpPr>
        <p:spPr>
          <a:xfrm>
            <a:off x="4736160" y="287280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4"/>
          <p:cNvSpPr/>
          <p:nvPr/>
        </p:nvSpPr>
        <p:spPr>
          <a:xfrm>
            <a:off x="4736160" y="3004200"/>
            <a:ext cx="5112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48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4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25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Text 0"/>
          <p:cNvSpPr/>
          <p:nvPr/>
        </p:nvSpPr>
        <p:spPr>
          <a:xfrm rot="20400000">
            <a:off x="7331760" y="285840"/>
            <a:ext cx="109728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401"/>
              </a:lnSpc>
              <a:tabLst>
                <a:tab algn="l" pos="0"/>
              </a:tabLst>
            </a:pPr>
            <a:r>
              <a:rPr b="0" lang="en-US" sz="607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⟨g⟩</a:t>
            </a:r>
            <a:endParaRPr b="0" lang="en-US" sz="60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"/>
          <p:cNvSpPr/>
          <p:nvPr/>
        </p:nvSpPr>
        <p:spPr>
          <a:xfrm rot="1500000">
            <a:off x="428400" y="3922560"/>
            <a:ext cx="440280" cy="9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6800"/>
              </a:lnSpc>
              <a:tabLst>
                <a:tab algn="l" pos="0"/>
              </a:tabLst>
            </a:pPr>
            <a:r>
              <a:rPr b="0" lang="en-US" sz="5520" strike="noStrike" u="none">
                <a:solidFill>
                  <a:srgbClr val="e74c3c">
                    <a:alpha val="10000"/>
                  </a:srgbClr>
                </a:solidFill>
                <a:effectLst/>
                <a:uFillTx/>
                <a:latin typeface="Calibri"/>
              </a:rPr>
              <a:t>σ</a:t>
            </a:r>
            <a:endParaRPr b="0" lang="en-US" sz="5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"/>
          <p:cNvSpPr/>
          <p:nvPr/>
        </p:nvSpPr>
        <p:spPr>
          <a:xfrm>
            <a:off x="1178640" y="357120"/>
            <a:ext cx="678636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020" strike="noStrike" u="none">
                <a:solidFill>
                  <a:srgbClr val="ecf0f1"/>
                </a:solidFill>
                <a:effectLst/>
                <a:uFillTx/>
                <a:latin typeface="Calibri"/>
              </a:rPr>
              <a:t>Спасибо за внимание!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3"/>
          <p:cNvSpPr/>
          <p:nvPr/>
        </p:nvSpPr>
        <p:spPr>
          <a:xfrm>
            <a:off x="1178640" y="960840"/>
            <a:ext cx="6786360" cy="1412280"/>
          </a:xfrm>
          <a:prstGeom prst="rect">
            <a:avLst/>
          </a:prstGeom>
          <a:solidFill>
            <a:srgbClr val="2c3e5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1178640" y="960840"/>
            <a:ext cx="28080" cy="14122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5"/>
          <p:cNvSpPr/>
          <p:nvPr/>
        </p:nvSpPr>
        <p:spPr>
          <a:xfrm>
            <a:off x="1335960" y="1089360"/>
            <a:ext cx="6471720" cy="1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f39c12"/>
                </a:solidFill>
                <a:effectLst/>
                <a:uFillTx/>
                <a:latin typeface="Calibri"/>
              </a:rPr>
              <a:t>Что мы изучили на этом занятии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1335960" y="1287720"/>
            <a:ext cx="6471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Циклические группы и их свойства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7"/>
          <p:cNvSpPr/>
          <p:nvPr/>
        </p:nvSpPr>
        <p:spPr>
          <a:xfrm>
            <a:off x="1335960" y="1479240"/>
            <a:ext cx="6471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Системы порождающих элементов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8"/>
          <p:cNvSpPr/>
          <p:nvPr/>
        </p:nvSpPr>
        <p:spPr>
          <a:xfrm>
            <a:off x="1335960" y="1670400"/>
            <a:ext cx="6471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Смежные классы и разбиение группы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9"/>
          <p:cNvSpPr/>
          <p:nvPr/>
        </p:nvSpPr>
        <p:spPr>
          <a:xfrm>
            <a:off x="1335960" y="1861920"/>
            <a:ext cx="6471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Теорема Лагранжа и её следствия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0"/>
          <p:cNvSpPr/>
          <p:nvPr/>
        </p:nvSpPr>
        <p:spPr>
          <a:xfrm>
            <a:off x="1335960" y="2053440"/>
            <a:ext cx="6471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Приложения в геометрии и физике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1335960" y="1287720"/>
            <a:ext cx="669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2"/>
          <p:cNvSpPr/>
          <p:nvPr/>
        </p:nvSpPr>
        <p:spPr>
          <a:xfrm>
            <a:off x="1335960" y="1479240"/>
            <a:ext cx="669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3"/>
          <p:cNvSpPr/>
          <p:nvPr/>
        </p:nvSpPr>
        <p:spPr>
          <a:xfrm>
            <a:off x="1335960" y="1670400"/>
            <a:ext cx="669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4"/>
          <p:cNvSpPr/>
          <p:nvPr/>
        </p:nvSpPr>
        <p:spPr>
          <a:xfrm>
            <a:off x="1335960" y="1861920"/>
            <a:ext cx="669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5"/>
          <p:cNvSpPr/>
          <p:nvPr/>
        </p:nvSpPr>
        <p:spPr>
          <a:xfrm>
            <a:off x="1335960" y="2053440"/>
            <a:ext cx="669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27ae60"/>
                </a:solidFill>
                <a:effectLst/>
                <a:uFillTx/>
                <a:latin typeface="Calibri"/>
              </a:rPr>
              <a:t>✓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6"/>
          <p:cNvSpPr/>
          <p:nvPr/>
        </p:nvSpPr>
        <p:spPr>
          <a:xfrm>
            <a:off x="1178640" y="2516400"/>
            <a:ext cx="3328560" cy="1938240"/>
          </a:xfrm>
          <a:prstGeom prst="rect">
            <a:avLst/>
          </a:prstGeom>
          <a:solidFill>
            <a:srgbClr val="e74c3c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7"/>
          <p:cNvSpPr/>
          <p:nvPr/>
        </p:nvSpPr>
        <p:spPr>
          <a:xfrm>
            <a:off x="1178640" y="2516400"/>
            <a:ext cx="35280" cy="19382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8"/>
          <p:cNvSpPr/>
          <p:nvPr/>
        </p:nvSpPr>
        <p:spPr>
          <a:xfrm>
            <a:off x="1321560" y="2644920"/>
            <a:ext cx="304272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e74c3c"/>
                </a:solidFill>
                <a:effectLst/>
                <a:uFillTx/>
                <a:latin typeface="Calibri"/>
              </a:rPr>
              <a:t>Ваши вопросы?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9"/>
          <p:cNvSpPr/>
          <p:nvPr/>
        </p:nvSpPr>
        <p:spPr>
          <a:xfrm>
            <a:off x="1321560" y="2851920"/>
            <a:ext cx="304272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Спасибо за активное участие! Приглашаю вас задать вопросы по любому материалу из сегодняшней лекции.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0"/>
          <p:cNvSpPr/>
          <p:nvPr/>
        </p:nvSpPr>
        <p:spPr>
          <a:xfrm>
            <a:off x="4636440" y="2516400"/>
            <a:ext cx="3328560" cy="1938240"/>
          </a:xfrm>
          <a:prstGeom prst="rect">
            <a:avLst/>
          </a:prstGeom>
          <a:solidFill>
            <a:srgbClr val="3498db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1"/>
          <p:cNvSpPr/>
          <p:nvPr/>
        </p:nvSpPr>
        <p:spPr>
          <a:xfrm>
            <a:off x="4636440" y="2516400"/>
            <a:ext cx="35280" cy="1938240"/>
          </a:xfrm>
          <a:prstGeom prst="rect">
            <a:avLst/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2"/>
          <p:cNvSpPr/>
          <p:nvPr/>
        </p:nvSpPr>
        <p:spPr>
          <a:xfrm>
            <a:off x="4779000" y="2644920"/>
            <a:ext cx="304272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Следующее занятие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3"/>
          <p:cNvSpPr/>
          <p:nvPr/>
        </p:nvSpPr>
        <p:spPr>
          <a:xfrm>
            <a:off x="4779000" y="2851920"/>
            <a:ext cx="3042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Кольца и Поля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24"/>
          <p:cNvSpPr/>
          <p:nvPr/>
        </p:nvSpPr>
        <p:spPr>
          <a:xfrm>
            <a:off x="4779000" y="3043440"/>
            <a:ext cx="3042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Определения и примеры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5"/>
          <p:cNvSpPr/>
          <p:nvPr/>
        </p:nvSpPr>
        <p:spPr>
          <a:xfrm>
            <a:off x="4779000" y="3234960"/>
            <a:ext cx="30427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916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bdc3c7"/>
                </a:solidFill>
                <a:effectLst/>
                <a:uFillTx/>
                <a:latin typeface="Calibri"/>
              </a:rPr>
              <a:t>Связь с группами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26"/>
          <p:cNvSpPr/>
          <p:nvPr/>
        </p:nvSpPr>
        <p:spPr>
          <a:xfrm>
            <a:off x="4779000" y="2851920"/>
            <a:ext cx="925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→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7"/>
          <p:cNvSpPr/>
          <p:nvPr/>
        </p:nvSpPr>
        <p:spPr>
          <a:xfrm>
            <a:off x="4779000" y="3043440"/>
            <a:ext cx="925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→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8"/>
          <p:cNvSpPr/>
          <p:nvPr/>
        </p:nvSpPr>
        <p:spPr>
          <a:xfrm>
            <a:off x="4779000" y="3234960"/>
            <a:ext cx="9252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3498db"/>
                </a:solidFill>
                <a:effectLst/>
                <a:uFillTx/>
                <a:latin typeface="Calibri"/>
              </a:rPr>
              <a:t>→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2" name="Image 1" descr="preencoded.png"/>
          <p:cNvPicPr/>
          <p:nvPr/>
        </p:nvPicPr>
        <p:blipFill>
          <a:blip r:embed="rId2">
            <a:alphaModFix amt="90000"/>
          </a:blip>
          <a:stretch/>
        </p:blipFill>
        <p:spPr>
          <a:xfrm>
            <a:off x="5657760" y="3469320"/>
            <a:ext cx="128556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Shape 29"/>
          <p:cNvSpPr/>
          <p:nvPr/>
        </p:nvSpPr>
        <p:spPr>
          <a:xfrm>
            <a:off x="1178640" y="4597920"/>
            <a:ext cx="6786360" cy="297720"/>
          </a:xfrm>
          <a:prstGeom prst="rect">
            <a:avLst/>
          </a:prstGeom>
          <a:solidFill>
            <a:srgbClr val="bdc3c7">
              <a:alpha val="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0"/>
          <p:cNvSpPr/>
          <p:nvPr/>
        </p:nvSpPr>
        <p:spPr>
          <a:xfrm>
            <a:off x="1178640" y="4597920"/>
            <a:ext cx="21240" cy="297720"/>
          </a:xfrm>
          <a:prstGeom prst="rect">
            <a:avLst/>
          </a:prstGeom>
          <a:solidFill>
            <a:srgbClr val="bdc3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1"/>
          <p:cNvSpPr/>
          <p:nvPr/>
        </p:nvSpPr>
        <p:spPr>
          <a:xfrm>
            <a:off x="1178640" y="4597920"/>
            <a:ext cx="6786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i="1" lang="en-US" sz="670" strike="noStrike" u="none">
                <a:solidFill>
                  <a:srgbClr val="95a5a6"/>
                </a:solidFill>
                <a:effectLst/>
                <a:uFillTx/>
                <a:latin typeface="Calibri"/>
              </a:rPr>
              <a:t>Помните: циклические группы и смежные классы — это фундамент для понимания более сложных алгебраических структур!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LibreOffice/25.8.1.1$Linux_X86_64 LibreOffice_project/580$Build-1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2025-11-16T07:25:14Z</dcterms:created>
  <dc:creator>PptxGenJS</dc:creator>
  <dc:description/>
  <dc:language>en-US</dc:language>
  <cp:lastModifiedBy/>
  <dcterms:modified xsi:type="dcterms:W3CDTF">2025-11-16T09:28:45Z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